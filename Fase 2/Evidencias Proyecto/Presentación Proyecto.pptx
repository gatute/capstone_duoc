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Anton" charset="1" panose="00000500000000000000"/>
      <p:regular r:id="rId22"/>
    </p:embeddedFont>
    <p:embeddedFont>
      <p:font typeface="Open Sans 1" charset="1" panose="020B0606030504020204"/>
      <p:regular r:id="rId23"/>
    </p:embeddedFont>
    <p:embeddedFont>
      <p:font typeface="Open Sans 1 Bold" charset="1" panose="020B0806030504020204"/>
      <p:regular r:id="rId24"/>
    </p:embeddedFont>
    <p:embeddedFont>
      <p:font typeface="Open Sans 1 Italics" charset="1" panose="020B0606030504020204"/>
      <p:regular r:id="rId25"/>
    </p:embeddedFont>
    <p:embeddedFont>
      <p:font typeface="Open Sans 1 Bold Italics" charset="1" panose="020B0806030504020204"/>
      <p:regular r:id="rId26"/>
    </p:embeddedFont>
    <p:embeddedFont>
      <p:font typeface="Open Sans 2 Italics" charset="1" panose="000000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cdn-icons-png.flaticon.com/512/17008/17008714.png" TargetMode="External" Type="http://schemas.openxmlformats.org/officeDocument/2006/relationships/hyperlink"/><Relationship Id="rId3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9187" y="895970"/>
            <a:ext cx="17229526" cy="8525109"/>
            <a:chOff x="0" y="0"/>
            <a:chExt cx="4537818" cy="22452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7818" cy="2245296"/>
            </a:xfrm>
            <a:custGeom>
              <a:avLst/>
              <a:gdLst/>
              <a:ahLst/>
              <a:cxnLst/>
              <a:rect r="r" b="b" t="t" l="l"/>
              <a:pathLst>
                <a:path h="2245296" w="4537818">
                  <a:moveTo>
                    <a:pt x="0" y="0"/>
                  </a:moveTo>
                  <a:lnTo>
                    <a:pt x="4537818" y="0"/>
                  </a:lnTo>
                  <a:lnTo>
                    <a:pt x="4537818" y="2245296"/>
                  </a:lnTo>
                  <a:lnTo>
                    <a:pt x="0" y="2245296"/>
                  </a:lnTo>
                  <a:close/>
                </a:path>
              </a:pathLst>
            </a:custGeom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4537818" cy="21976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389441" y="2289043"/>
            <a:ext cx="6339121" cy="6339121"/>
          </a:xfrm>
          <a:custGeom>
            <a:avLst/>
            <a:gdLst/>
            <a:ahLst/>
            <a:cxnLst/>
            <a:rect r="r" b="b" t="t" l="l"/>
            <a:pathLst>
              <a:path h="6339121" w="6339121">
                <a:moveTo>
                  <a:pt x="0" y="0"/>
                </a:moveTo>
                <a:lnTo>
                  <a:pt x="6339121" y="0"/>
                </a:lnTo>
                <a:lnTo>
                  <a:pt x="6339121" y="6339121"/>
                </a:lnTo>
                <a:lnTo>
                  <a:pt x="0" y="63391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662754" y="-1649917"/>
            <a:ext cx="3086100" cy="2889115"/>
            <a:chOff x="0" y="0"/>
            <a:chExt cx="596900" cy="558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96900" cy="558800"/>
            </a:xfrm>
            <a:custGeom>
              <a:avLst/>
              <a:gdLst/>
              <a:ahLst/>
              <a:cxnLst/>
              <a:rect r="r" b="b" t="t" l="l"/>
              <a:pathLst>
                <a:path h="558800" w="5969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D1CCC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01600" y="180975"/>
              <a:ext cx="393700" cy="245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002126" y="4623755"/>
            <a:ext cx="7322329" cy="1163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39"/>
              </a:lnSpc>
            </a:pPr>
            <a:r>
              <a:rPr lang="en-US" sz="8499">
                <a:solidFill>
                  <a:srgbClr val="2E2C2D"/>
                </a:solidFill>
                <a:latin typeface="Anton"/>
                <a:ea typeface="Anton"/>
                <a:cs typeface="Anton"/>
                <a:sym typeface="Anton"/>
              </a:rPr>
              <a:t>Tock Tock Alarm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6895199" y="9049953"/>
            <a:ext cx="3086100" cy="2889115"/>
            <a:chOff x="0" y="0"/>
            <a:chExt cx="596900" cy="558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96900" cy="558800"/>
            </a:xfrm>
            <a:custGeom>
              <a:avLst/>
              <a:gdLst/>
              <a:ahLst/>
              <a:cxnLst/>
              <a:rect r="r" b="b" t="t" l="l"/>
              <a:pathLst>
                <a:path h="558800" w="5969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D1CCC8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01600" y="180975"/>
              <a:ext cx="393700" cy="245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977716" y="6188194"/>
            <a:ext cx="7371150" cy="815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2E2C2D"/>
                </a:solidFill>
                <a:latin typeface="Open Sans 1"/>
                <a:ea typeface="Open Sans 1"/>
                <a:cs typeface="Open Sans 1"/>
                <a:sym typeface="Open Sans 1"/>
              </a:rPr>
              <a:t>Sistema de </a:t>
            </a:r>
            <a:r>
              <a:rPr lang="en-US" sz="2400">
                <a:solidFill>
                  <a:srgbClr val="2E2C2D"/>
                </a:solidFill>
                <a:latin typeface="Open Sans 1"/>
                <a:ea typeface="Open Sans 1"/>
                <a:cs typeface="Open Sans 1"/>
                <a:sym typeface="Open Sans 1"/>
              </a:rPr>
              <a:t>gestión de turnos y control de asistencia para trabajadores con jornadas rotativas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9005" y="1028700"/>
            <a:ext cx="17229526" cy="8525109"/>
            <a:chOff x="0" y="0"/>
            <a:chExt cx="4537818" cy="22452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7818" cy="2245296"/>
            </a:xfrm>
            <a:custGeom>
              <a:avLst/>
              <a:gdLst/>
              <a:ahLst/>
              <a:cxnLst/>
              <a:rect r="r" b="b" t="t" l="l"/>
              <a:pathLst>
                <a:path h="2245296" w="4537818">
                  <a:moveTo>
                    <a:pt x="0" y="0"/>
                  </a:moveTo>
                  <a:lnTo>
                    <a:pt x="4537818" y="0"/>
                  </a:lnTo>
                  <a:lnTo>
                    <a:pt x="4537818" y="2245296"/>
                  </a:lnTo>
                  <a:lnTo>
                    <a:pt x="0" y="2245296"/>
                  </a:lnTo>
                  <a:close/>
                </a:path>
              </a:pathLst>
            </a:custGeom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4537818" cy="21976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662754" y="-1649917"/>
            <a:ext cx="3086100" cy="2889115"/>
            <a:chOff x="0" y="0"/>
            <a:chExt cx="596900" cy="558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96900" cy="558800"/>
            </a:xfrm>
            <a:custGeom>
              <a:avLst/>
              <a:gdLst/>
              <a:ahLst/>
              <a:cxnLst/>
              <a:rect r="r" b="b" t="t" l="l"/>
              <a:pathLst>
                <a:path h="558800" w="5969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D1CCC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180975"/>
              <a:ext cx="393700" cy="245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895199" y="9049953"/>
            <a:ext cx="3086100" cy="2889115"/>
            <a:chOff x="0" y="0"/>
            <a:chExt cx="596900" cy="558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96900" cy="558800"/>
            </a:xfrm>
            <a:custGeom>
              <a:avLst/>
              <a:gdLst/>
              <a:ahLst/>
              <a:cxnLst/>
              <a:rect r="r" b="b" t="t" l="l"/>
              <a:pathLst>
                <a:path h="558800" w="5969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D1CCC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180975"/>
              <a:ext cx="393700" cy="245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564627" y="1733637"/>
            <a:ext cx="5158746" cy="1163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39"/>
              </a:lnSpc>
            </a:pPr>
            <a:r>
              <a:rPr lang="en-US" sz="8499">
                <a:solidFill>
                  <a:srgbClr val="2E2C2D"/>
                </a:solidFill>
                <a:latin typeface="Anton"/>
                <a:ea typeface="Anton"/>
                <a:cs typeface="Anton"/>
                <a:sym typeface="Anton"/>
              </a:rPr>
              <a:t>Integrantes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08277" y="4003926"/>
            <a:ext cx="5158746" cy="4425025"/>
            <a:chOff x="0" y="0"/>
            <a:chExt cx="6878328" cy="590003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2758174" y="0"/>
              <a:ext cx="1361980" cy="1314310"/>
            </a:xfrm>
            <a:custGeom>
              <a:avLst/>
              <a:gdLst/>
              <a:ahLst/>
              <a:cxnLst/>
              <a:rect r="r" b="b" t="t" l="l"/>
              <a:pathLst>
                <a:path h="1314310" w="1361980">
                  <a:moveTo>
                    <a:pt x="0" y="0"/>
                  </a:moveTo>
                  <a:lnTo>
                    <a:pt x="1361980" y="0"/>
                  </a:lnTo>
                  <a:lnTo>
                    <a:pt x="1361980" y="1314310"/>
                  </a:lnTo>
                  <a:lnTo>
                    <a:pt x="0" y="13143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0" y="1696123"/>
              <a:ext cx="6878328" cy="42039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580"/>
                </a:lnSpc>
              </a:pPr>
              <a:r>
                <a:rPr lang="en-US" sz="4700" b="true">
                  <a:solidFill>
                    <a:srgbClr val="2E2C2D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José Díaz</a:t>
              </a:r>
            </a:p>
            <a:p>
              <a:pPr algn="ctr">
                <a:lnSpc>
                  <a:spcPts val="4199"/>
                </a:lnSpc>
              </a:pPr>
            </a:p>
            <a:p>
              <a:pPr algn="ctr">
                <a:lnSpc>
                  <a:spcPts val="3640"/>
                </a:lnSpc>
              </a:pPr>
              <a:r>
                <a:rPr lang="en-US" sz="2600" b="true">
                  <a:solidFill>
                    <a:srgbClr val="2E2C2D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Líder de Proyecto y Desarrollador Full Stack, </a:t>
              </a:r>
            </a:p>
            <a:p>
              <a:pPr algn="ctr">
                <a:lnSpc>
                  <a:spcPts val="3640"/>
                </a:lnSpc>
              </a:pPr>
              <a:r>
                <a:rPr lang="en-US" sz="2600" b="true">
                  <a:solidFill>
                    <a:srgbClr val="2E2C2D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con enfoque en base de datos y Firebase.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500423" y="4227764"/>
            <a:ext cx="5158746" cy="3847581"/>
            <a:chOff x="0" y="0"/>
            <a:chExt cx="6878328" cy="513010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2678411" y="0"/>
              <a:ext cx="1346606" cy="1146298"/>
            </a:xfrm>
            <a:custGeom>
              <a:avLst/>
              <a:gdLst/>
              <a:ahLst/>
              <a:cxnLst/>
              <a:rect r="r" b="b" t="t" l="l"/>
              <a:pathLst>
                <a:path h="1146298" w="1346606">
                  <a:moveTo>
                    <a:pt x="0" y="0"/>
                  </a:moveTo>
                  <a:lnTo>
                    <a:pt x="1346606" y="0"/>
                  </a:lnTo>
                  <a:lnTo>
                    <a:pt x="1346606" y="1146298"/>
                  </a:lnTo>
                  <a:lnTo>
                    <a:pt x="0" y="11462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0" y="1535798"/>
              <a:ext cx="6878328" cy="35943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580"/>
                </a:lnSpc>
              </a:pPr>
              <a:r>
                <a:rPr lang="en-US" sz="4700" b="true">
                  <a:solidFill>
                    <a:srgbClr val="2E2C2D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Nicolás Pozo</a:t>
              </a:r>
            </a:p>
            <a:p>
              <a:pPr algn="ctr">
                <a:lnSpc>
                  <a:spcPts val="4199"/>
                </a:lnSpc>
              </a:pPr>
            </a:p>
            <a:p>
              <a:pPr algn="ctr">
                <a:lnSpc>
                  <a:spcPts val="3640"/>
                </a:lnSpc>
              </a:pPr>
              <a:r>
                <a:rPr lang="en-US" sz="2600" b="true">
                  <a:solidFill>
                    <a:srgbClr val="2E2C2D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Desarrollador Full Stack, con enfoque en geolocalización e interfaz UI/UX.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192864" y="4227764"/>
            <a:ext cx="5158746" cy="4314306"/>
            <a:chOff x="0" y="0"/>
            <a:chExt cx="6878328" cy="575240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2464300" y="0"/>
              <a:ext cx="1331532" cy="1336544"/>
            </a:xfrm>
            <a:custGeom>
              <a:avLst/>
              <a:gdLst/>
              <a:ahLst/>
              <a:cxnLst/>
              <a:rect r="r" b="b" t="t" l="l"/>
              <a:pathLst>
                <a:path h="1336544" w="1331532">
                  <a:moveTo>
                    <a:pt x="0" y="0"/>
                  </a:moveTo>
                  <a:lnTo>
                    <a:pt x="1331532" y="0"/>
                  </a:lnTo>
                  <a:lnTo>
                    <a:pt x="1331532" y="1336544"/>
                  </a:lnTo>
                  <a:lnTo>
                    <a:pt x="0" y="13365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 rot="0">
              <a:off x="0" y="1535798"/>
              <a:ext cx="6878328" cy="42166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580"/>
                </a:lnSpc>
              </a:pPr>
              <a:r>
                <a:rPr lang="en-US" sz="4700" b="true">
                  <a:solidFill>
                    <a:srgbClr val="2E2C2D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Martín Lara</a:t>
              </a:r>
            </a:p>
            <a:p>
              <a:pPr algn="ctr">
                <a:lnSpc>
                  <a:spcPts val="4200"/>
                </a:lnSpc>
              </a:pPr>
            </a:p>
            <a:p>
              <a:pPr algn="ctr">
                <a:lnSpc>
                  <a:spcPts val="3640"/>
                </a:lnSpc>
              </a:pPr>
              <a:r>
                <a:rPr lang="en-US" sz="2600" b="true">
                  <a:solidFill>
                    <a:srgbClr val="2E2C2D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Desarrollador Full Stack, con enfoque en reconocimiento facial e integración de servicios.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6714" y="1028700"/>
            <a:ext cx="17229526" cy="8525109"/>
            <a:chOff x="0" y="0"/>
            <a:chExt cx="4537818" cy="22452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7818" cy="2245296"/>
            </a:xfrm>
            <a:custGeom>
              <a:avLst/>
              <a:gdLst/>
              <a:ahLst/>
              <a:cxnLst/>
              <a:rect r="r" b="b" t="t" l="l"/>
              <a:pathLst>
                <a:path h="2245296" w="4537818">
                  <a:moveTo>
                    <a:pt x="0" y="0"/>
                  </a:moveTo>
                  <a:lnTo>
                    <a:pt x="4537818" y="0"/>
                  </a:lnTo>
                  <a:lnTo>
                    <a:pt x="4537818" y="2245296"/>
                  </a:lnTo>
                  <a:lnTo>
                    <a:pt x="0" y="2245296"/>
                  </a:lnTo>
                  <a:close/>
                </a:path>
              </a:pathLst>
            </a:custGeom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4537818" cy="21976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662754" y="-1649917"/>
            <a:ext cx="3086100" cy="2889115"/>
            <a:chOff x="0" y="0"/>
            <a:chExt cx="596900" cy="558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96900" cy="558800"/>
            </a:xfrm>
            <a:custGeom>
              <a:avLst/>
              <a:gdLst/>
              <a:ahLst/>
              <a:cxnLst/>
              <a:rect r="r" b="b" t="t" l="l"/>
              <a:pathLst>
                <a:path h="558800" w="5969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D1CCC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180975"/>
              <a:ext cx="393700" cy="245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895199" y="9049953"/>
            <a:ext cx="3086100" cy="2889115"/>
            <a:chOff x="0" y="0"/>
            <a:chExt cx="596900" cy="558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96900" cy="558800"/>
            </a:xfrm>
            <a:custGeom>
              <a:avLst/>
              <a:gdLst/>
              <a:ahLst/>
              <a:cxnLst/>
              <a:rect r="r" b="b" t="t" l="l"/>
              <a:pathLst>
                <a:path h="558800" w="5969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D1CCC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180975"/>
              <a:ext cx="393700" cy="245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8070208" y="6965143"/>
            <a:ext cx="1662539" cy="2293157"/>
          </a:xfrm>
          <a:custGeom>
            <a:avLst/>
            <a:gdLst/>
            <a:ahLst/>
            <a:cxnLst/>
            <a:rect r="r" b="b" t="t" l="l"/>
            <a:pathLst>
              <a:path h="2293157" w="1662539">
                <a:moveTo>
                  <a:pt x="0" y="0"/>
                </a:moveTo>
                <a:lnTo>
                  <a:pt x="1662539" y="0"/>
                </a:lnTo>
                <a:lnTo>
                  <a:pt x="1662539" y="2293157"/>
                </a:lnTo>
                <a:lnTo>
                  <a:pt x="0" y="22931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564627" y="1733637"/>
            <a:ext cx="5158746" cy="1163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39"/>
              </a:lnSpc>
            </a:pPr>
            <a:r>
              <a:rPr lang="en-US" sz="8499">
                <a:solidFill>
                  <a:srgbClr val="2E2C2D"/>
                </a:solidFill>
                <a:latin typeface="Anton"/>
                <a:ea typeface="Anton"/>
                <a:cs typeface="Anton"/>
                <a:sym typeface="Anton"/>
              </a:rPr>
              <a:t>Contexto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92816" y="3217980"/>
            <a:ext cx="515874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2E2C2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Problema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340642" y="3217980"/>
            <a:ext cx="5158746" cy="1492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2E2C2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Justificación</a:t>
            </a:r>
          </a:p>
          <a:p>
            <a:pPr algn="ctr">
              <a:lnSpc>
                <a:spcPts val="4620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423346" y="4516869"/>
            <a:ext cx="5757676" cy="2818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57917" indent="-328959" lvl="1">
              <a:lnSpc>
                <a:spcPts val="4266"/>
              </a:lnSpc>
              <a:buFont typeface="Arial"/>
              <a:buChar char="•"/>
            </a:pPr>
            <a:r>
              <a:rPr lang="en-US" sz="3047" i="true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Dificultad de adaptación a cambios de turno</a:t>
            </a:r>
          </a:p>
          <a:p>
            <a:pPr algn="just">
              <a:lnSpc>
                <a:spcPts val="1400"/>
              </a:lnSpc>
            </a:pPr>
          </a:p>
          <a:p>
            <a:pPr algn="just" marL="657917" indent="-328959" lvl="1">
              <a:lnSpc>
                <a:spcPts val="4266"/>
              </a:lnSpc>
              <a:buFont typeface="Arial"/>
              <a:buChar char="•"/>
            </a:pPr>
            <a:r>
              <a:rPr lang="en-US" sz="3047" i="true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Genera atrasos y problemas de asistencia</a:t>
            </a:r>
          </a:p>
          <a:p>
            <a:pPr algn="just">
              <a:lnSpc>
                <a:spcPts val="4266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0499818" y="4516869"/>
            <a:ext cx="6759482" cy="2627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57917" indent="-328959" lvl="1">
              <a:lnSpc>
                <a:spcPts val="4266"/>
              </a:lnSpc>
              <a:buFont typeface="Arial"/>
              <a:buChar char="•"/>
            </a:pPr>
            <a:r>
              <a:rPr lang="en-US" sz="3047" i="true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P</a:t>
            </a:r>
            <a:r>
              <a:rPr lang="en-US" sz="3047" i="true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roductividad</a:t>
            </a:r>
          </a:p>
          <a:p>
            <a:pPr algn="just">
              <a:lnSpc>
                <a:spcPts val="1399"/>
              </a:lnSpc>
            </a:pPr>
          </a:p>
          <a:p>
            <a:pPr algn="just" marL="657917" indent="-328959" lvl="1">
              <a:lnSpc>
                <a:spcPts val="4266"/>
              </a:lnSpc>
              <a:buFont typeface="Arial"/>
              <a:buChar char="•"/>
            </a:pPr>
            <a:r>
              <a:rPr lang="en-US" sz="3047" i="true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Continuidad operacional</a:t>
            </a:r>
          </a:p>
          <a:p>
            <a:pPr algn="just">
              <a:lnSpc>
                <a:spcPts val="1399"/>
              </a:lnSpc>
            </a:pPr>
          </a:p>
          <a:p>
            <a:pPr algn="just" marL="657917" indent="-328959" lvl="1">
              <a:lnSpc>
                <a:spcPts val="4266"/>
              </a:lnSpc>
              <a:buFont typeface="Arial"/>
              <a:buChar char="•"/>
            </a:pPr>
            <a:r>
              <a:rPr lang="en-US" sz="3047" i="true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Cumplimiento de metas</a:t>
            </a:r>
          </a:p>
          <a:p>
            <a:pPr algn="just">
              <a:lnSpc>
                <a:spcPts val="1399"/>
              </a:lnSpc>
            </a:pPr>
          </a:p>
          <a:p>
            <a:pPr algn="just" marL="657917" indent="-328959" lvl="1">
              <a:lnSpc>
                <a:spcPts val="4266"/>
              </a:lnSpc>
              <a:buFont typeface="Arial"/>
              <a:buChar char="•"/>
            </a:pPr>
            <a:r>
              <a:rPr lang="en-US" sz="3047" i="true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Control de asistencia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3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9005" y="1028700"/>
            <a:ext cx="17229526" cy="8525109"/>
            <a:chOff x="0" y="0"/>
            <a:chExt cx="4537818" cy="22452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7818" cy="2245296"/>
            </a:xfrm>
            <a:custGeom>
              <a:avLst/>
              <a:gdLst/>
              <a:ahLst/>
              <a:cxnLst/>
              <a:rect r="r" b="b" t="t" l="l"/>
              <a:pathLst>
                <a:path h="2245296" w="4537818">
                  <a:moveTo>
                    <a:pt x="0" y="0"/>
                  </a:moveTo>
                  <a:lnTo>
                    <a:pt x="4537818" y="0"/>
                  </a:lnTo>
                  <a:lnTo>
                    <a:pt x="4537818" y="2245296"/>
                  </a:lnTo>
                  <a:lnTo>
                    <a:pt x="0" y="2245296"/>
                  </a:lnTo>
                  <a:close/>
                </a:path>
              </a:pathLst>
            </a:custGeom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4537818" cy="21976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662754" y="-1649917"/>
            <a:ext cx="3086100" cy="2889115"/>
            <a:chOff x="0" y="0"/>
            <a:chExt cx="596900" cy="558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96900" cy="558800"/>
            </a:xfrm>
            <a:custGeom>
              <a:avLst/>
              <a:gdLst/>
              <a:ahLst/>
              <a:cxnLst/>
              <a:rect r="r" b="b" t="t" l="l"/>
              <a:pathLst>
                <a:path h="558800" w="5969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D1CCC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180975"/>
              <a:ext cx="393700" cy="245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5342603" y="1743653"/>
            <a:ext cx="7602794" cy="1163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39"/>
              </a:lnSpc>
            </a:pPr>
            <a:r>
              <a:rPr lang="en-US" sz="8499">
                <a:solidFill>
                  <a:srgbClr val="2E2C2D"/>
                </a:solidFill>
                <a:latin typeface="Anton"/>
                <a:ea typeface="Anton"/>
                <a:cs typeface="Anton"/>
                <a:sym typeface="Anton"/>
              </a:rPr>
              <a:t>Objetivo General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895199" y="9049953"/>
            <a:ext cx="3086100" cy="2889115"/>
            <a:chOff x="0" y="0"/>
            <a:chExt cx="596900" cy="558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96900" cy="558800"/>
            </a:xfrm>
            <a:custGeom>
              <a:avLst/>
              <a:gdLst/>
              <a:ahLst/>
              <a:cxnLst/>
              <a:rect r="r" b="b" t="t" l="l"/>
              <a:pathLst>
                <a:path h="558800" w="5969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D1CCC8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180975"/>
              <a:ext cx="393700" cy="245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421556" y="4159083"/>
            <a:ext cx="13444888" cy="2406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31"/>
              </a:lnSpc>
              <a:spcBef>
                <a:spcPct val="0"/>
              </a:spcBef>
            </a:pPr>
            <a:r>
              <a:rPr lang="en-US" sz="2736" i="true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Gestionar adecuadamente los turnos y el control de asistencia de trabajadores con jornadas rotativas, mediante el desarrollo de una aplicación web y móvil que permita administrar alarmas, registrar asistencia mediante geolocalización y reconocimiento facial, y contribuir a la mejora de la puntualidad y continuidad operacional en las organizaciones.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3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8872" y="1028700"/>
            <a:ext cx="17229526" cy="8525109"/>
            <a:chOff x="0" y="0"/>
            <a:chExt cx="4537818" cy="22452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7818" cy="2245296"/>
            </a:xfrm>
            <a:custGeom>
              <a:avLst/>
              <a:gdLst/>
              <a:ahLst/>
              <a:cxnLst/>
              <a:rect r="r" b="b" t="t" l="l"/>
              <a:pathLst>
                <a:path h="2245296" w="4537818">
                  <a:moveTo>
                    <a:pt x="0" y="0"/>
                  </a:moveTo>
                  <a:lnTo>
                    <a:pt x="4537818" y="0"/>
                  </a:lnTo>
                  <a:lnTo>
                    <a:pt x="4537818" y="2245296"/>
                  </a:lnTo>
                  <a:lnTo>
                    <a:pt x="0" y="2245296"/>
                  </a:lnTo>
                  <a:close/>
                </a:path>
              </a:pathLst>
            </a:custGeom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4537818" cy="21976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662754" y="-1649917"/>
            <a:ext cx="3086100" cy="2889115"/>
            <a:chOff x="0" y="0"/>
            <a:chExt cx="596900" cy="558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96900" cy="558800"/>
            </a:xfrm>
            <a:custGeom>
              <a:avLst/>
              <a:gdLst/>
              <a:ahLst/>
              <a:cxnLst/>
              <a:rect r="r" b="b" t="t" l="l"/>
              <a:pathLst>
                <a:path h="558800" w="5969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D1CCC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180975"/>
              <a:ext cx="393700" cy="245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070496" y="1683554"/>
            <a:ext cx="9706278" cy="1163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39"/>
              </a:lnSpc>
            </a:pPr>
            <a:r>
              <a:rPr lang="en-US" sz="8499">
                <a:solidFill>
                  <a:srgbClr val="2E2C2D"/>
                </a:solidFill>
                <a:latin typeface="Anton"/>
                <a:ea typeface="Anton"/>
                <a:cs typeface="Anton"/>
                <a:sym typeface="Anton"/>
              </a:rPr>
              <a:t>Objetivos Específicos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895199" y="9049953"/>
            <a:ext cx="3086100" cy="2889115"/>
            <a:chOff x="0" y="0"/>
            <a:chExt cx="596900" cy="558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96900" cy="558800"/>
            </a:xfrm>
            <a:custGeom>
              <a:avLst/>
              <a:gdLst/>
              <a:ahLst/>
              <a:cxnLst/>
              <a:rect r="r" b="b" t="t" l="l"/>
              <a:pathLst>
                <a:path h="558800" w="5969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D1CCC8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180975"/>
              <a:ext cx="393700" cy="245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4710858" y="3702402"/>
            <a:ext cx="8875804" cy="3866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53256" indent="-326628" lvl="1">
              <a:lnSpc>
                <a:spcPts val="4236"/>
              </a:lnSpc>
              <a:buFont typeface="Arial"/>
              <a:buChar char="•"/>
            </a:pPr>
            <a:r>
              <a:rPr lang="en-US" sz="3025" i="true" spc="93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Gestión de turnos y alarmas</a:t>
            </a:r>
          </a:p>
          <a:p>
            <a:pPr algn="just">
              <a:lnSpc>
                <a:spcPts val="1400"/>
              </a:lnSpc>
            </a:pPr>
          </a:p>
          <a:p>
            <a:pPr algn="just" marL="653256" indent="-326628" lvl="1">
              <a:lnSpc>
                <a:spcPts val="4236"/>
              </a:lnSpc>
              <a:buFont typeface="Arial"/>
              <a:buChar char="•"/>
            </a:pPr>
            <a:r>
              <a:rPr lang="en-US" sz="3025" i="true" spc="93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Registro de asistencia con geolocalización y validación biométrica facial</a:t>
            </a:r>
          </a:p>
          <a:p>
            <a:pPr algn="just">
              <a:lnSpc>
                <a:spcPts val="1399"/>
              </a:lnSpc>
            </a:pPr>
          </a:p>
          <a:p>
            <a:pPr algn="just" marL="653256" indent="-326628" lvl="1">
              <a:lnSpc>
                <a:spcPts val="4236"/>
              </a:lnSpc>
              <a:buFont typeface="Arial"/>
              <a:buChar char="•"/>
            </a:pPr>
            <a:r>
              <a:rPr lang="en-US" sz="3025" i="true" spc="93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Interfaz accesible y responsiva</a:t>
            </a:r>
          </a:p>
          <a:p>
            <a:pPr algn="just">
              <a:lnSpc>
                <a:spcPts val="1399"/>
              </a:lnSpc>
            </a:pPr>
          </a:p>
          <a:p>
            <a:pPr algn="just" marL="653256" indent="-326628" lvl="1">
              <a:lnSpc>
                <a:spcPts val="4236"/>
              </a:lnSpc>
              <a:buFont typeface="Arial"/>
              <a:buChar char="•"/>
            </a:pPr>
            <a:r>
              <a:rPr lang="en-US" sz="3025" i="true" spc="93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Persistencia de datos con Firebase</a:t>
            </a:r>
          </a:p>
          <a:p>
            <a:pPr algn="just">
              <a:lnSpc>
                <a:spcPts val="1399"/>
              </a:lnSpc>
            </a:pPr>
          </a:p>
          <a:p>
            <a:pPr algn="just" marL="653256" indent="-326628" lvl="1">
              <a:lnSpc>
                <a:spcPts val="4236"/>
              </a:lnSpc>
              <a:spcBef>
                <a:spcPct val="0"/>
              </a:spcBef>
              <a:buFont typeface="Arial"/>
              <a:buChar char="•"/>
            </a:pPr>
            <a:r>
              <a:rPr lang="en-US" sz="3025" i="true" spc="93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Dashboard para supervisión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3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9005" y="1028700"/>
            <a:ext cx="17229526" cy="8525109"/>
            <a:chOff x="0" y="0"/>
            <a:chExt cx="4537818" cy="22452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7818" cy="2245296"/>
            </a:xfrm>
            <a:custGeom>
              <a:avLst/>
              <a:gdLst/>
              <a:ahLst/>
              <a:cxnLst/>
              <a:rect r="r" b="b" t="t" l="l"/>
              <a:pathLst>
                <a:path h="2245296" w="4537818">
                  <a:moveTo>
                    <a:pt x="0" y="0"/>
                  </a:moveTo>
                  <a:lnTo>
                    <a:pt x="4537818" y="0"/>
                  </a:lnTo>
                  <a:lnTo>
                    <a:pt x="4537818" y="2245296"/>
                  </a:lnTo>
                  <a:lnTo>
                    <a:pt x="0" y="2245296"/>
                  </a:lnTo>
                  <a:close/>
                </a:path>
              </a:pathLst>
            </a:custGeom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4537818" cy="21976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662754" y="-1649917"/>
            <a:ext cx="3086100" cy="2889115"/>
            <a:chOff x="0" y="0"/>
            <a:chExt cx="596900" cy="558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96900" cy="558800"/>
            </a:xfrm>
            <a:custGeom>
              <a:avLst/>
              <a:gdLst/>
              <a:ahLst/>
              <a:cxnLst/>
              <a:rect r="r" b="b" t="t" l="l"/>
              <a:pathLst>
                <a:path h="558800" w="5969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D1CCC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180975"/>
              <a:ext cx="393700" cy="245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5117230" y="1863852"/>
            <a:ext cx="8053541" cy="1163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39"/>
              </a:lnSpc>
            </a:pPr>
            <a:r>
              <a:rPr lang="en-US" sz="8499">
                <a:solidFill>
                  <a:srgbClr val="2E2C2D"/>
                </a:solidFill>
                <a:latin typeface="Anton"/>
                <a:ea typeface="Anton"/>
                <a:cs typeface="Anton"/>
                <a:sym typeface="Anton"/>
              </a:rPr>
              <a:t>Alcance Proyecto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895199" y="9049953"/>
            <a:ext cx="3086100" cy="2889115"/>
            <a:chOff x="0" y="0"/>
            <a:chExt cx="596900" cy="558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96900" cy="558800"/>
            </a:xfrm>
            <a:custGeom>
              <a:avLst/>
              <a:gdLst/>
              <a:ahLst/>
              <a:cxnLst/>
              <a:rect r="r" b="b" t="t" l="l"/>
              <a:pathLst>
                <a:path h="558800" w="5969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D1CCC8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180975"/>
              <a:ext cx="393700" cy="245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590363" y="3891037"/>
            <a:ext cx="5160815" cy="2752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b="true" sz="2999" i="true" spc="92">
                <a:solidFill>
                  <a:srgbClr val="2E2C2D"/>
                </a:solidFill>
                <a:latin typeface="Open Sans 1 Bold Italics"/>
                <a:ea typeface="Open Sans 1 Bold Italics"/>
                <a:cs typeface="Open Sans 1 Bold Italics"/>
                <a:sym typeface="Open Sans 1 Bold Italics"/>
              </a:rPr>
              <a:t>Restricciones del sistema:</a:t>
            </a:r>
          </a:p>
          <a:p>
            <a:pPr algn="just">
              <a:lnSpc>
                <a:spcPts val="1399"/>
              </a:lnSpc>
            </a:pPr>
          </a:p>
          <a:p>
            <a:pPr algn="just" marL="484318" indent="-242159" lvl="1">
              <a:lnSpc>
                <a:spcPts val="3140"/>
              </a:lnSpc>
              <a:buFont typeface="Arial"/>
              <a:buChar char="•"/>
            </a:pPr>
            <a:r>
              <a:rPr lang="en-US" sz="2243" i="true" spc="69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Dependencia de internet</a:t>
            </a:r>
          </a:p>
          <a:p>
            <a:pPr algn="just">
              <a:lnSpc>
                <a:spcPts val="1399"/>
              </a:lnSpc>
            </a:pPr>
          </a:p>
          <a:p>
            <a:pPr algn="just" marL="484318" indent="-242159" lvl="1">
              <a:lnSpc>
                <a:spcPts val="3140"/>
              </a:lnSpc>
              <a:buFont typeface="Arial"/>
              <a:buChar char="•"/>
            </a:pPr>
            <a:r>
              <a:rPr lang="en-US" sz="2243" i="true" spc="69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Uso de Firebase</a:t>
            </a:r>
          </a:p>
          <a:p>
            <a:pPr algn="just">
              <a:lnSpc>
                <a:spcPts val="1399"/>
              </a:lnSpc>
            </a:pPr>
          </a:p>
          <a:p>
            <a:pPr algn="just" marL="484318" indent="-242159" lvl="1">
              <a:lnSpc>
                <a:spcPts val="3140"/>
              </a:lnSpc>
              <a:buFont typeface="Arial"/>
              <a:buChar char="•"/>
            </a:pPr>
            <a:r>
              <a:rPr lang="en-US" sz="2243" i="true" spc="69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Permisos de geolocalización</a:t>
            </a:r>
          </a:p>
          <a:p>
            <a:pPr algn="just">
              <a:lnSpc>
                <a:spcPts val="1399"/>
              </a:lnSpc>
            </a:pPr>
          </a:p>
          <a:p>
            <a:pPr algn="just" marL="484318" indent="-242159" lvl="1">
              <a:lnSpc>
                <a:spcPts val="3140"/>
              </a:lnSpc>
              <a:spcBef>
                <a:spcPct val="0"/>
              </a:spcBef>
              <a:buFont typeface="Arial"/>
              <a:buChar char="•"/>
            </a:pPr>
            <a:r>
              <a:rPr lang="en-US" sz="2243" i="true" spc="69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Limitaciones de pruebas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592577" y="3839059"/>
            <a:ext cx="5319335" cy="3705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b="true" sz="2999" i="true" spc="92">
                <a:solidFill>
                  <a:srgbClr val="2E2C2D"/>
                </a:solidFill>
                <a:latin typeface="Open Sans 1 Bold Italics"/>
                <a:ea typeface="Open Sans 1 Bold Italics"/>
                <a:cs typeface="Open Sans 1 Bold Italics"/>
                <a:sym typeface="Open Sans 1 Bold Italics"/>
              </a:rPr>
              <a:t>Funcionalidades</a:t>
            </a:r>
          </a:p>
          <a:p>
            <a:pPr algn="just">
              <a:lnSpc>
                <a:spcPts val="1399"/>
              </a:lnSpc>
            </a:pPr>
          </a:p>
          <a:p>
            <a:pPr algn="just" marL="484318" indent="-242159" lvl="1">
              <a:lnSpc>
                <a:spcPts val="3140"/>
              </a:lnSpc>
              <a:buFont typeface="Arial"/>
              <a:buChar char="•"/>
            </a:pPr>
            <a:r>
              <a:rPr lang="en-US" sz="2243" i="true" spc="69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G</a:t>
            </a:r>
            <a:r>
              <a:rPr lang="en-US" sz="2243" i="true" spc="69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estión de turnos</a:t>
            </a:r>
          </a:p>
          <a:p>
            <a:pPr algn="just">
              <a:lnSpc>
                <a:spcPts val="1399"/>
              </a:lnSpc>
            </a:pPr>
          </a:p>
          <a:p>
            <a:pPr algn="just" marL="484318" indent="-242159" lvl="1">
              <a:lnSpc>
                <a:spcPts val="3140"/>
              </a:lnSpc>
              <a:buFont typeface="Arial"/>
              <a:buChar char="•"/>
            </a:pPr>
            <a:r>
              <a:rPr lang="en-US" sz="2243" i="true" spc="69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Alarmas inteligentes</a:t>
            </a:r>
          </a:p>
          <a:p>
            <a:pPr algn="just">
              <a:lnSpc>
                <a:spcPts val="1399"/>
              </a:lnSpc>
            </a:pPr>
          </a:p>
          <a:p>
            <a:pPr algn="just" marL="484318" indent="-242159" lvl="1">
              <a:lnSpc>
                <a:spcPts val="3140"/>
              </a:lnSpc>
              <a:buFont typeface="Arial"/>
              <a:buChar char="•"/>
            </a:pPr>
            <a:r>
              <a:rPr lang="en-US" sz="2243" i="true" spc="69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Marcaje mediante geolocalización validado con reconocimiento facial</a:t>
            </a:r>
          </a:p>
          <a:p>
            <a:pPr algn="just">
              <a:lnSpc>
                <a:spcPts val="1399"/>
              </a:lnSpc>
            </a:pPr>
          </a:p>
          <a:p>
            <a:pPr algn="just" marL="484318" indent="-242159" lvl="1">
              <a:lnSpc>
                <a:spcPts val="3140"/>
              </a:lnSpc>
              <a:buFont typeface="Arial"/>
              <a:buChar char="•"/>
            </a:pPr>
            <a:r>
              <a:rPr lang="en-US" sz="2243" i="true" spc="69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Dashboard RRHH</a:t>
            </a:r>
          </a:p>
          <a:p>
            <a:pPr algn="just">
              <a:lnSpc>
                <a:spcPts val="1399"/>
              </a:lnSpc>
            </a:pPr>
          </a:p>
          <a:p>
            <a:pPr algn="just" marL="484318" indent="-242159" lvl="1">
              <a:lnSpc>
                <a:spcPts val="3140"/>
              </a:lnSpc>
              <a:spcBef>
                <a:spcPct val="0"/>
              </a:spcBef>
              <a:buFont typeface="Arial"/>
              <a:buChar char="•"/>
            </a:pPr>
            <a:r>
              <a:rPr lang="en-US" sz="2243" i="true" spc="69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Historial de asistencia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3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9005" y="1028700"/>
            <a:ext cx="17229526" cy="8525109"/>
            <a:chOff x="0" y="0"/>
            <a:chExt cx="4537818" cy="22452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7818" cy="2245296"/>
            </a:xfrm>
            <a:custGeom>
              <a:avLst/>
              <a:gdLst/>
              <a:ahLst/>
              <a:cxnLst/>
              <a:rect r="r" b="b" t="t" l="l"/>
              <a:pathLst>
                <a:path h="2245296" w="4537818">
                  <a:moveTo>
                    <a:pt x="0" y="0"/>
                  </a:moveTo>
                  <a:lnTo>
                    <a:pt x="4537818" y="0"/>
                  </a:lnTo>
                  <a:lnTo>
                    <a:pt x="4537818" y="2245296"/>
                  </a:lnTo>
                  <a:lnTo>
                    <a:pt x="0" y="2245296"/>
                  </a:lnTo>
                  <a:close/>
                </a:path>
              </a:pathLst>
            </a:custGeom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4537818" cy="21976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662754" y="-1649917"/>
            <a:ext cx="3086100" cy="2889115"/>
            <a:chOff x="0" y="0"/>
            <a:chExt cx="596900" cy="558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96900" cy="558800"/>
            </a:xfrm>
            <a:custGeom>
              <a:avLst/>
              <a:gdLst/>
              <a:ahLst/>
              <a:cxnLst/>
              <a:rect r="r" b="b" t="t" l="l"/>
              <a:pathLst>
                <a:path h="558800" w="5969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D1CCC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180975"/>
              <a:ext cx="393700" cy="245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5542935" y="1713604"/>
            <a:ext cx="6921666" cy="1163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39"/>
              </a:lnSpc>
            </a:pPr>
            <a:r>
              <a:rPr lang="en-US" sz="8499">
                <a:solidFill>
                  <a:srgbClr val="2E2C2D"/>
                </a:solidFill>
                <a:latin typeface="Anton"/>
                <a:ea typeface="Anton"/>
                <a:cs typeface="Anton"/>
                <a:sym typeface="Anton"/>
              </a:rPr>
              <a:t>Requerimientos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895199" y="9049953"/>
            <a:ext cx="3086100" cy="2889115"/>
            <a:chOff x="0" y="0"/>
            <a:chExt cx="596900" cy="558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96900" cy="558800"/>
            </a:xfrm>
            <a:custGeom>
              <a:avLst/>
              <a:gdLst/>
              <a:ahLst/>
              <a:cxnLst/>
              <a:rect r="r" b="b" t="t" l="l"/>
              <a:pathLst>
                <a:path h="558800" w="5969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D1CCC8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180975"/>
              <a:ext cx="393700" cy="245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918517" y="3415147"/>
            <a:ext cx="515874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2E2C2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Funcionales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394045" y="3415147"/>
            <a:ext cx="515874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2E2C2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No Funcionales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23346" y="4654667"/>
            <a:ext cx="6945530" cy="2629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84318" indent="-242159" lvl="1">
              <a:lnSpc>
                <a:spcPts val="3140"/>
              </a:lnSpc>
              <a:buFont typeface="Arial"/>
              <a:buChar char="•"/>
            </a:pPr>
            <a:r>
              <a:rPr lang="en-US" sz="2243" i="true" spc="69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L</a:t>
            </a:r>
            <a:r>
              <a:rPr lang="en-US" sz="2243" i="true" spc="69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ogin</a:t>
            </a:r>
          </a:p>
          <a:p>
            <a:pPr algn="just">
              <a:lnSpc>
                <a:spcPts val="1399"/>
              </a:lnSpc>
            </a:pPr>
          </a:p>
          <a:p>
            <a:pPr algn="just" marL="484318" indent="-242159" lvl="1">
              <a:lnSpc>
                <a:spcPts val="3140"/>
              </a:lnSpc>
              <a:buFont typeface="Arial"/>
              <a:buChar char="•"/>
            </a:pPr>
            <a:r>
              <a:rPr lang="en-US" sz="2243" i="true" spc="69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Turnos</a:t>
            </a:r>
          </a:p>
          <a:p>
            <a:pPr algn="just">
              <a:lnSpc>
                <a:spcPts val="1399"/>
              </a:lnSpc>
            </a:pPr>
          </a:p>
          <a:p>
            <a:pPr algn="just" marL="484318" indent="-242159" lvl="1">
              <a:lnSpc>
                <a:spcPts val="3140"/>
              </a:lnSpc>
              <a:buFont typeface="Arial"/>
              <a:buChar char="•"/>
            </a:pPr>
            <a:r>
              <a:rPr lang="en-US" sz="2243" i="true" spc="69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Alarmas</a:t>
            </a:r>
          </a:p>
          <a:p>
            <a:pPr algn="just">
              <a:lnSpc>
                <a:spcPts val="1399"/>
              </a:lnSpc>
            </a:pPr>
          </a:p>
          <a:p>
            <a:pPr algn="just" marL="484318" indent="-242159" lvl="1">
              <a:lnSpc>
                <a:spcPts val="3140"/>
              </a:lnSpc>
              <a:buFont typeface="Arial"/>
              <a:buChar char="•"/>
            </a:pPr>
            <a:r>
              <a:rPr lang="en-US" sz="2243" i="true" spc="69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Marcaje</a:t>
            </a:r>
          </a:p>
          <a:p>
            <a:pPr algn="just">
              <a:lnSpc>
                <a:spcPts val="1399"/>
              </a:lnSpc>
            </a:pPr>
          </a:p>
          <a:p>
            <a:pPr algn="just" marL="484318" indent="-242159" lvl="1">
              <a:lnSpc>
                <a:spcPts val="3140"/>
              </a:lnSpc>
              <a:spcBef>
                <a:spcPct val="0"/>
              </a:spcBef>
              <a:buFont typeface="Arial"/>
              <a:buChar char="•"/>
            </a:pPr>
            <a:r>
              <a:rPr lang="en-US" sz="2243" i="true" spc="69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Dashboard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484095" y="4654667"/>
            <a:ext cx="4216915" cy="2067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84318" indent="-242159" lvl="1">
              <a:lnSpc>
                <a:spcPts val="3140"/>
              </a:lnSpc>
              <a:buFont typeface="Arial"/>
              <a:buChar char="•"/>
            </a:pPr>
            <a:r>
              <a:rPr lang="en-US" sz="2243" i="true" spc="69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Responsivo</a:t>
            </a:r>
          </a:p>
          <a:p>
            <a:pPr algn="just">
              <a:lnSpc>
                <a:spcPts val="1399"/>
              </a:lnSpc>
            </a:pPr>
          </a:p>
          <a:p>
            <a:pPr algn="just" marL="484318" indent="-242159" lvl="1">
              <a:lnSpc>
                <a:spcPts val="3140"/>
              </a:lnSpc>
              <a:buFont typeface="Arial"/>
              <a:buChar char="•"/>
            </a:pPr>
            <a:r>
              <a:rPr lang="en-US" sz="2243" i="true" spc="69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Seguro</a:t>
            </a:r>
          </a:p>
          <a:p>
            <a:pPr algn="just">
              <a:lnSpc>
                <a:spcPts val="1399"/>
              </a:lnSpc>
            </a:pPr>
          </a:p>
          <a:p>
            <a:pPr algn="just" marL="484318" indent="-242159" lvl="1">
              <a:lnSpc>
                <a:spcPts val="3140"/>
              </a:lnSpc>
              <a:buFont typeface="Arial"/>
              <a:buChar char="•"/>
            </a:pPr>
            <a:r>
              <a:rPr lang="en-US" sz="2243" i="true" spc="69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Multiplataforma</a:t>
            </a:r>
          </a:p>
          <a:p>
            <a:pPr algn="just">
              <a:lnSpc>
                <a:spcPts val="1399"/>
              </a:lnSpc>
            </a:pPr>
          </a:p>
          <a:p>
            <a:pPr algn="just" marL="484318" indent="-242159" lvl="1">
              <a:lnSpc>
                <a:spcPts val="3140"/>
              </a:lnSpc>
              <a:spcBef>
                <a:spcPct val="0"/>
              </a:spcBef>
              <a:buFont typeface="Arial"/>
              <a:buChar char="•"/>
            </a:pPr>
            <a:r>
              <a:rPr lang="en-US" sz="2243" i="true" spc="69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Buen rendimiento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739" y="1028700"/>
            <a:ext cx="17229526" cy="8525109"/>
            <a:chOff x="0" y="0"/>
            <a:chExt cx="4537818" cy="2245296"/>
          </a:xfrm>
        </p:grpSpPr>
        <p:sp>
          <p:nvSpPr>
            <p:cNvPr name="Freeform 3" id="3">
              <a:hlinkClick r:id="rId2" tooltip="https://cdn-icons-png.flaticon.com/512/17008/17008714.png"/>
            </p:cNvPr>
            <p:cNvSpPr/>
            <p:nvPr/>
          </p:nvSpPr>
          <p:spPr>
            <a:xfrm flipH="false" flipV="false" rot="0">
              <a:off x="0" y="0"/>
              <a:ext cx="4537818" cy="2245296"/>
            </a:xfrm>
            <a:custGeom>
              <a:avLst/>
              <a:gdLst/>
              <a:ahLst/>
              <a:cxnLst/>
              <a:rect r="r" b="b" t="t" l="l"/>
              <a:pathLst>
                <a:path h="2245296" w="4537818">
                  <a:moveTo>
                    <a:pt x="0" y="0"/>
                  </a:moveTo>
                  <a:lnTo>
                    <a:pt x="4537818" y="0"/>
                  </a:lnTo>
                  <a:lnTo>
                    <a:pt x="4537818" y="2245296"/>
                  </a:lnTo>
                  <a:lnTo>
                    <a:pt x="0" y="2245296"/>
                  </a:lnTo>
                  <a:close/>
                </a:path>
              </a:pathLst>
            </a:custGeom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4537818" cy="21976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662754" y="-1649917"/>
            <a:ext cx="3086100" cy="2889115"/>
            <a:chOff x="0" y="0"/>
            <a:chExt cx="596900" cy="558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96900" cy="558800"/>
            </a:xfrm>
            <a:custGeom>
              <a:avLst/>
              <a:gdLst/>
              <a:ahLst/>
              <a:cxnLst/>
              <a:rect r="r" b="b" t="t" l="l"/>
              <a:pathLst>
                <a:path h="558800" w="5969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D1CCC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180975"/>
              <a:ext cx="393700" cy="245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895199" y="9049953"/>
            <a:ext cx="3086100" cy="2889115"/>
            <a:chOff x="0" y="0"/>
            <a:chExt cx="596900" cy="558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96900" cy="558800"/>
            </a:xfrm>
            <a:custGeom>
              <a:avLst/>
              <a:gdLst/>
              <a:ahLst/>
              <a:cxnLst/>
              <a:rect r="r" b="b" t="t" l="l"/>
              <a:pathLst>
                <a:path h="558800" w="5969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D1CCC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180975"/>
              <a:ext cx="393700" cy="245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6879413" y="3012223"/>
            <a:ext cx="4262554" cy="4262554"/>
          </a:xfrm>
          <a:custGeom>
            <a:avLst/>
            <a:gdLst/>
            <a:ahLst/>
            <a:cxnLst/>
            <a:rect r="r" b="b" t="t" l="l"/>
            <a:pathLst>
              <a:path h="4262554" w="4262554">
                <a:moveTo>
                  <a:pt x="0" y="0"/>
                </a:moveTo>
                <a:lnTo>
                  <a:pt x="4262554" y="0"/>
                </a:lnTo>
                <a:lnTo>
                  <a:pt x="4262554" y="4262554"/>
                </a:lnTo>
                <a:lnTo>
                  <a:pt x="0" y="42625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434411" y="1666982"/>
            <a:ext cx="5419177" cy="1163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39"/>
              </a:lnSpc>
            </a:pPr>
            <a:r>
              <a:rPr lang="en-US" sz="8499">
                <a:solidFill>
                  <a:srgbClr val="2E2C2D"/>
                </a:solidFill>
                <a:latin typeface="Anton"/>
                <a:ea typeface="Anton"/>
                <a:cs typeface="Anton"/>
                <a:sym typeface="Anton"/>
              </a:rPr>
              <a:t>Metodología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135160" y="7305522"/>
            <a:ext cx="12017680" cy="1363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10"/>
              </a:lnSpc>
            </a:pPr>
            <a:r>
              <a:rPr lang="en-US" sz="2579" i="true">
                <a:solidFill>
                  <a:srgbClr val="2E2C2D"/>
                </a:solidFill>
                <a:latin typeface="Open Sans 2 Italics"/>
                <a:ea typeface="Open Sans 2 Italics"/>
                <a:cs typeface="Open Sans 2 Italics"/>
                <a:sym typeface="Open Sans 2 Italics"/>
              </a:rPr>
              <a:t>Metodología iterativa e incremental basada en desarrollo por etapas.</a:t>
            </a:r>
          </a:p>
          <a:p>
            <a:pPr algn="just">
              <a:lnSpc>
                <a:spcPts val="3610"/>
              </a:lnSpc>
            </a:pPr>
            <a:r>
              <a:rPr lang="en-US" sz="2579" i="true">
                <a:solidFill>
                  <a:srgbClr val="2E2C2D"/>
                </a:solidFill>
                <a:latin typeface="Open Sans 2 Italics"/>
                <a:ea typeface="Open Sans 2 Italics"/>
                <a:cs typeface="Open Sans 2 Italics"/>
                <a:sym typeface="Open Sans 2 Italics"/>
              </a:rPr>
              <a:t>Enfoque flexible que permite adaptación a cambios y mejora continua del sistema.</a:t>
            </a:r>
          </a:p>
          <a:p>
            <a:pPr algn="just">
              <a:lnSpc>
                <a:spcPts val="3610"/>
              </a:lnSpc>
              <a:spcBef>
                <a:spcPct val="0"/>
              </a:spcBef>
            </a:pPr>
            <a:r>
              <a:rPr lang="en-US" sz="2579" i="true">
                <a:solidFill>
                  <a:srgbClr val="2E2C2D"/>
                </a:solidFill>
                <a:latin typeface="Open Sans 2 Italics"/>
                <a:ea typeface="Open Sans 2 Italics"/>
                <a:cs typeface="Open Sans 2 Italics"/>
                <a:sym typeface="Open Sans 2 Italics"/>
              </a:rPr>
              <a:t>Seguimiento mediante reuniones periódicas del equipo.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9005" y="1028700"/>
            <a:ext cx="17229526" cy="8525109"/>
            <a:chOff x="0" y="0"/>
            <a:chExt cx="4537818" cy="22452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7818" cy="2245296"/>
            </a:xfrm>
            <a:custGeom>
              <a:avLst/>
              <a:gdLst/>
              <a:ahLst/>
              <a:cxnLst/>
              <a:rect r="r" b="b" t="t" l="l"/>
              <a:pathLst>
                <a:path h="2245296" w="4537818">
                  <a:moveTo>
                    <a:pt x="0" y="0"/>
                  </a:moveTo>
                  <a:lnTo>
                    <a:pt x="4537818" y="0"/>
                  </a:lnTo>
                  <a:lnTo>
                    <a:pt x="4537818" y="2245296"/>
                  </a:lnTo>
                  <a:lnTo>
                    <a:pt x="0" y="2245296"/>
                  </a:lnTo>
                  <a:close/>
                </a:path>
              </a:pathLst>
            </a:custGeom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4537818" cy="21976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662754" y="-1649917"/>
            <a:ext cx="3086100" cy="2889115"/>
            <a:chOff x="0" y="0"/>
            <a:chExt cx="596900" cy="558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96900" cy="558800"/>
            </a:xfrm>
            <a:custGeom>
              <a:avLst/>
              <a:gdLst/>
              <a:ahLst/>
              <a:cxnLst/>
              <a:rect r="r" b="b" t="t" l="l"/>
              <a:pathLst>
                <a:path h="558800" w="5969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D1CCC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180975"/>
              <a:ext cx="393700" cy="245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895199" y="9049953"/>
            <a:ext cx="3086100" cy="2889115"/>
            <a:chOff x="0" y="0"/>
            <a:chExt cx="596900" cy="558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96900" cy="558800"/>
            </a:xfrm>
            <a:custGeom>
              <a:avLst/>
              <a:gdLst/>
              <a:ahLst/>
              <a:cxnLst/>
              <a:rect r="r" b="b" t="t" l="l"/>
              <a:pathLst>
                <a:path h="558800" w="5969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D1CCC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180975"/>
              <a:ext cx="393700" cy="245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3140392" y="2984529"/>
            <a:ext cx="12007217" cy="6273771"/>
          </a:xfrm>
          <a:custGeom>
            <a:avLst/>
            <a:gdLst/>
            <a:ahLst/>
            <a:cxnLst/>
            <a:rect r="r" b="b" t="t" l="l"/>
            <a:pathLst>
              <a:path h="6273771" w="12007217">
                <a:moveTo>
                  <a:pt x="0" y="0"/>
                </a:moveTo>
                <a:lnTo>
                  <a:pt x="12007216" y="0"/>
                </a:lnTo>
                <a:lnTo>
                  <a:pt x="12007216" y="6273771"/>
                </a:lnTo>
                <a:lnTo>
                  <a:pt x="0" y="62737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564627" y="1733637"/>
            <a:ext cx="6140372" cy="1163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39"/>
              </a:lnSpc>
            </a:pPr>
            <a:r>
              <a:rPr lang="en-US" sz="8499">
                <a:solidFill>
                  <a:srgbClr val="2E2C2D"/>
                </a:solidFill>
                <a:latin typeface="Anton"/>
                <a:ea typeface="Anton"/>
                <a:cs typeface="Anton"/>
                <a:sym typeface="Anton"/>
              </a:rPr>
              <a:t>Cronograma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3125" y="1028700"/>
            <a:ext cx="17229526" cy="8525109"/>
            <a:chOff x="0" y="0"/>
            <a:chExt cx="4537818" cy="22452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7818" cy="2245296"/>
            </a:xfrm>
            <a:custGeom>
              <a:avLst/>
              <a:gdLst/>
              <a:ahLst/>
              <a:cxnLst/>
              <a:rect r="r" b="b" t="t" l="l"/>
              <a:pathLst>
                <a:path h="2245296" w="4537818">
                  <a:moveTo>
                    <a:pt x="0" y="0"/>
                  </a:moveTo>
                  <a:lnTo>
                    <a:pt x="4537818" y="0"/>
                  </a:lnTo>
                  <a:lnTo>
                    <a:pt x="4537818" y="2245296"/>
                  </a:lnTo>
                  <a:lnTo>
                    <a:pt x="0" y="2245296"/>
                  </a:lnTo>
                  <a:close/>
                </a:path>
              </a:pathLst>
            </a:custGeom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4537818" cy="21976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662754" y="-1649917"/>
            <a:ext cx="3086100" cy="2889115"/>
            <a:chOff x="0" y="0"/>
            <a:chExt cx="596900" cy="558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96900" cy="558800"/>
            </a:xfrm>
            <a:custGeom>
              <a:avLst/>
              <a:gdLst/>
              <a:ahLst/>
              <a:cxnLst/>
              <a:rect r="r" b="b" t="t" l="l"/>
              <a:pathLst>
                <a:path h="558800" w="5969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D1CCC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180975"/>
              <a:ext cx="393700" cy="245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895199" y="9049953"/>
            <a:ext cx="3086100" cy="2889115"/>
            <a:chOff x="0" y="0"/>
            <a:chExt cx="596900" cy="558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96900" cy="558800"/>
            </a:xfrm>
            <a:custGeom>
              <a:avLst/>
              <a:gdLst/>
              <a:ahLst/>
              <a:cxnLst/>
              <a:rect r="r" b="b" t="t" l="l"/>
              <a:pathLst>
                <a:path h="558800" w="5969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D1CCC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180975"/>
              <a:ext cx="393700" cy="245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1749372" y="4254847"/>
            <a:ext cx="1658986" cy="1658986"/>
          </a:xfrm>
          <a:custGeom>
            <a:avLst/>
            <a:gdLst/>
            <a:ahLst/>
            <a:cxnLst/>
            <a:rect r="r" b="b" t="t" l="l"/>
            <a:pathLst>
              <a:path h="1658986" w="1658986">
                <a:moveTo>
                  <a:pt x="0" y="0"/>
                </a:moveTo>
                <a:lnTo>
                  <a:pt x="1658987" y="0"/>
                </a:lnTo>
                <a:lnTo>
                  <a:pt x="1658987" y="1658987"/>
                </a:lnTo>
                <a:lnTo>
                  <a:pt x="0" y="16589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145210" y="4438345"/>
            <a:ext cx="1853093" cy="662481"/>
          </a:xfrm>
          <a:custGeom>
            <a:avLst/>
            <a:gdLst/>
            <a:ahLst/>
            <a:cxnLst/>
            <a:rect r="r" b="b" t="t" l="l"/>
            <a:pathLst>
              <a:path h="662481" w="1853093">
                <a:moveTo>
                  <a:pt x="0" y="0"/>
                </a:moveTo>
                <a:lnTo>
                  <a:pt x="1853093" y="0"/>
                </a:lnTo>
                <a:lnTo>
                  <a:pt x="1853093" y="662481"/>
                </a:lnTo>
                <a:lnTo>
                  <a:pt x="0" y="6624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220786" y="7158038"/>
            <a:ext cx="1696101" cy="969230"/>
          </a:xfrm>
          <a:custGeom>
            <a:avLst/>
            <a:gdLst/>
            <a:ahLst/>
            <a:cxnLst/>
            <a:rect r="r" b="b" t="t" l="l"/>
            <a:pathLst>
              <a:path h="969230" w="1696101">
                <a:moveTo>
                  <a:pt x="0" y="0"/>
                </a:moveTo>
                <a:lnTo>
                  <a:pt x="1696101" y="0"/>
                </a:lnTo>
                <a:lnTo>
                  <a:pt x="1696101" y="969229"/>
                </a:lnTo>
                <a:lnTo>
                  <a:pt x="0" y="9692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43379" r="0" b="-31615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282185" y="8251220"/>
            <a:ext cx="1344404" cy="683657"/>
          </a:xfrm>
          <a:custGeom>
            <a:avLst/>
            <a:gdLst/>
            <a:ahLst/>
            <a:cxnLst/>
            <a:rect r="r" b="b" t="t" l="l"/>
            <a:pathLst>
              <a:path h="683657" w="1344404">
                <a:moveTo>
                  <a:pt x="0" y="0"/>
                </a:moveTo>
                <a:lnTo>
                  <a:pt x="1344404" y="0"/>
                </a:lnTo>
                <a:lnTo>
                  <a:pt x="1344404" y="683656"/>
                </a:lnTo>
                <a:lnTo>
                  <a:pt x="0" y="6836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49077" r="0" b="-47571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941428" y="5657497"/>
            <a:ext cx="1379654" cy="1379654"/>
          </a:xfrm>
          <a:custGeom>
            <a:avLst/>
            <a:gdLst/>
            <a:ahLst/>
            <a:cxnLst/>
            <a:rect r="r" b="b" t="t" l="l"/>
            <a:pathLst>
              <a:path h="1379654" w="1379654">
                <a:moveTo>
                  <a:pt x="0" y="0"/>
                </a:moveTo>
                <a:lnTo>
                  <a:pt x="1379654" y="0"/>
                </a:lnTo>
                <a:lnTo>
                  <a:pt x="1379654" y="1379654"/>
                </a:lnTo>
                <a:lnTo>
                  <a:pt x="0" y="13796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941428" y="6944217"/>
            <a:ext cx="1396872" cy="1396872"/>
          </a:xfrm>
          <a:custGeom>
            <a:avLst/>
            <a:gdLst/>
            <a:ahLst/>
            <a:cxnLst/>
            <a:rect r="r" b="b" t="t" l="l"/>
            <a:pathLst>
              <a:path h="1396872" w="1396872">
                <a:moveTo>
                  <a:pt x="0" y="0"/>
                </a:moveTo>
                <a:lnTo>
                  <a:pt x="1396872" y="0"/>
                </a:lnTo>
                <a:lnTo>
                  <a:pt x="1396872" y="1396871"/>
                </a:lnTo>
                <a:lnTo>
                  <a:pt x="0" y="13968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2145210" y="5235990"/>
            <a:ext cx="2123957" cy="1061978"/>
          </a:xfrm>
          <a:custGeom>
            <a:avLst/>
            <a:gdLst/>
            <a:ahLst/>
            <a:cxnLst/>
            <a:rect r="r" b="b" t="t" l="l"/>
            <a:pathLst>
              <a:path h="1061978" w="2123957">
                <a:moveTo>
                  <a:pt x="0" y="0"/>
                </a:moveTo>
                <a:lnTo>
                  <a:pt x="2123956" y="0"/>
                </a:lnTo>
                <a:lnTo>
                  <a:pt x="2123956" y="1061978"/>
                </a:lnTo>
                <a:lnTo>
                  <a:pt x="0" y="106197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2394101" y="6210154"/>
            <a:ext cx="1522786" cy="931739"/>
          </a:xfrm>
          <a:custGeom>
            <a:avLst/>
            <a:gdLst/>
            <a:ahLst/>
            <a:cxnLst/>
            <a:rect r="r" b="b" t="t" l="l"/>
            <a:pathLst>
              <a:path h="931739" w="1522786">
                <a:moveTo>
                  <a:pt x="0" y="0"/>
                </a:moveTo>
                <a:lnTo>
                  <a:pt x="1522786" y="0"/>
                </a:lnTo>
                <a:lnTo>
                  <a:pt x="1522786" y="931738"/>
                </a:lnTo>
                <a:lnTo>
                  <a:pt x="0" y="93173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3068837" y="1693570"/>
            <a:ext cx="12150326" cy="1163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39"/>
              </a:lnSpc>
            </a:pPr>
            <a:r>
              <a:rPr lang="en-US" sz="8499">
                <a:solidFill>
                  <a:srgbClr val="2E2C2D"/>
                </a:solidFill>
                <a:latin typeface="Anton"/>
                <a:ea typeface="Anton"/>
                <a:cs typeface="Anton"/>
                <a:sym typeface="Anton"/>
              </a:rPr>
              <a:t>Tecnologías y Herramientas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47216" y="3323523"/>
            <a:ext cx="515874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2E2C2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Frontend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306655" y="3323523"/>
            <a:ext cx="3693957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2E2C2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Backend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179209" y="8796959"/>
            <a:ext cx="7929583" cy="448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10"/>
              </a:lnSpc>
              <a:spcBef>
                <a:spcPct val="0"/>
              </a:spcBef>
            </a:pPr>
            <a:r>
              <a:rPr lang="en-US" sz="2579" i="true">
                <a:solidFill>
                  <a:srgbClr val="2E2C2D"/>
                </a:solidFill>
                <a:latin typeface="Open Sans 2 Italics"/>
                <a:ea typeface="Open Sans 2 Italics"/>
                <a:cs typeface="Open Sans 2 Italics"/>
                <a:sym typeface="Open Sans 2 Italics"/>
              </a:rPr>
              <a:t>Arquitectura basada en servicios en la nube (Firebase)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338300" y="6094330"/>
            <a:ext cx="2901428" cy="448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0"/>
              </a:lnSpc>
            </a:pPr>
            <a:r>
              <a:rPr lang="en-US" sz="2579" i="true">
                <a:solidFill>
                  <a:srgbClr val="2E2C2D"/>
                </a:solidFill>
                <a:latin typeface="Open Sans 2 Italics"/>
                <a:ea typeface="Open Sans 2 Italics"/>
                <a:cs typeface="Open Sans 2 Italics"/>
                <a:sym typeface="Open Sans 2 Italics"/>
              </a:rPr>
              <a:t>Authentication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321082" y="4787151"/>
            <a:ext cx="2901428" cy="448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0"/>
              </a:lnSpc>
            </a:pPr>
            <a:r>
              <a:rPr lang="en-US" sz="2579" i="true">
                <a:solidFill>
                  <a:srgbClr val="2E2C2D"/>
                </a:solidFill>
                <a:latin typeface="Open Sans 2 Italics"/>
                <a:ea typeface="Open Sans 2 Italics"/>
                <a:cs typeface="Open Sans 2 Italics"/>
                <a:sym typeface="Open Sans 2 Italics"/>
              </a:rPr>
              <a:t>Firestore Database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321082" y="7389658"/>
            <a:ext cx="2901428" cy="448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0"/>
              </a:lnSpc>
            </a:pPr>
            <a:r>
              <a:rPr lang="en-US" sz="2579" i="true">
                <a:solidFill>
                  <a:srgbClr val="2E2C2D"/>
                </a:solidFill>
                <a:latin typeface="Open Sans 2 Italics"/>
                <a:ea typeface="Open Sans 2 Italics"/>
                <a:cs typeface="Open Sans 2 Italics"/>
                <a:sym typeface="Open Sans 2 Italics"/>
              </a:rPr>
              <a:t>Cloud Storage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9005" y="1028700"/>
            <a:ext cx="17229526" cy="8525109"/>
            <a:chOff x="0" y="0"/>
            <a:chExt cx="4537818" cy="22452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7818" cy="2245296"/>
            </a:xfrm>
            <a:custGeom>
              <a:avLst/>
              <a:gdLst/>
              <a:ahLst/>
              <a:cxnLst/>
              <a:rect r="r" b="b" t="t" l="l"/>
              <a:pathLst>
                <a:path h="2245296" w="4537818">
                  <a:moveTo>
                    <a:pt x="0" y="0"/>
                  </a:moveTo>
                  <a:lnTo>
                    <a:pt x="4537818" y="0"/>
                  </a:lnTo>
                  <a:lnTo>
                    <a:pt x="4537818" y="2245296"/>
                  </a:lnTo>
                  <a:lnTo>
                    <a:pt x="0" y="2245296"/>
                  </a:lnTo>
                  <a:close/>
                </a:path>
              </a:pathLst>
            </a:custGeom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4537818" cy="21976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662754" y="-1649917"/>
            <a:ext cx="3086100" cy="2889115"/>
            <a:chOff x="0" y="0"/>
            <a:chExt cx="596900" cy="558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96900" cy="558800"/>
            </a:xfrm>
            <a:custGeom>
              <a:avLst/>
              <a:gdLst/>
              <a:ahLst/>
              <a:cxnLst/>
              <a:rect r="r" b="b" t="t" l="l"/>
              <a:pathLst>
                <a:path h="558800" w="5969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D1CCC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180975"/>
              <a:ext cx="393700" cy="245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895199" y="9049953"/>
            <a:ext cx="3086100" cy="2889115"/>
            <a:chOff x="0" y="0"/>
            <a:chExt cx="596900" cy="558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96900" cy="558800"/>
            </a:xfrm>
            <a:custGeom>
              <a:avLst/>
              <a:gdLst/>
              <a:ahLst/>
              <a:cxnLst/>
              <a:rect r="r" b="b" t="t" l="l"/>
              <a:pathLst>
                <a:path h="558800" w="5969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D1CCC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180975"/>
              <a:ext cx="393700" cy="245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3083420" y="2765827"/>
            <a:ext cx="11632358" cy="6571536"/>
          </a:xfrm>
          <a:custGeom>
            <a:avLst/>
            <a:gdLst/>
            <a:ahLst/>
            <a:cxnLst/>
            <a:rect r="r" b="b" t="t" l="l"/>
            <a:pathLst>
              <a:path h="6571536" w="11632358">
                <a:moveTo>
                  <a:pt x="0" y="0"/>
                </a:moveTo>
                <a:lnTo>
                  <a:pt x="11632358" y="0"/>
                </a:lnTo>
                <a:lnTo>
                  <a:pt x="11632358" y="6571536"/>
                </a:lnTo>
                <a:lnTo>
                  <a:pt x="0" y="65715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7933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310625" y="1602512"/>
            <a:ext cx="15666750" cy="1163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39"/>
              </a:lnSpc>
            </a:pPr>
            <a:r>
              <a:rPr lang="en-US" sz="8499">
                <a:solidFill>
                  <a:srgbClr val="2E2C2D"/>
                </a:solidFill>
                <a:latin typeface="Anton"/>
                <a:ea typeface="Anton"/>
                <a:cs typeface="Anton"/>
                <a:sym typeface="Anton"/>
              </a:rPr>
              <a:t>Arquitectura de la Aplicación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9005" y="1028700"/>
            <a:ext cx="17229526" cy="8525109"/>
            <a:chOff x="0" y="0"/>
            <a:chExt cx="4537818" cy="22452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7818" cy="2245296"/>
            </a:xfrm>
            <a:custGeom>
              <a:avLst/>
              <a:gdLst/>
              <a:ahLst/>
              <a:cxnLst/>
              <a:rect r="r" b="b" t="t" l="l"/>
              <a:pathLst>
                <a:path h="2245296" w="4537818">
                  <a:moveTo>
                    <a:pt x="0" y="0"/>
                  </a:moveTo>
                  <a:lnTo>
                    <a:pt x="4537818" y="0"/>
                  </a:lnTo>
                  <a:lnTo>
                    <a:pt x="4537818" y="2245296"/>
                  </a:lnTo>
                  <a:lnTo>
                    <a:pt x="0" y="2245296"/>
                  </a:lnTo>
                  <a:close/>
                </a:path>
              </a:pathLst>
            </a:custGeom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4537818" cy="21976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662754" y="-1649917"/>
            <a:ext cx="3086100" cy="2889115"/>
            <a:chOff x="0" y="0"/>
            <a:chExt cx="596900" cy="558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96900" cy="558800"/>
            </a:xfrm>
            <a:custGeom>
              <a:avLst/>
              <a:gdLst/>
              <a:ahLst/>
              <a:cxnLst/>
              <a:rect r="r" b="b" t="t" l="l"/>
              <a:pathLst>
                <a:path h="558800" w="5969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D1CCC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180975"/>
              <a:ext cx="393700" cy="245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895199" y="9049953"/>
            <a:ext cx="3086100" cy="2889115"/>
            <a:chOff x="0" y="0"/>
            <a:chExt cx="596900" cy="558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96900" cy="558800"/>
            </a:xfrm>
            <a:custGeom>
              <a:avLst/>
              <a:gdLst/>
              <a:ahLst/>
              <a:cxnLst/>
              <a:rect r="r" b="b" t="t" l="l"/>
              <a:pathLst>
                <a:path h="558800" w="5969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D1CCC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180975"/>
              <a:ext cx="393700" cy="245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7271053" y="2530732"/>
            <a:ext cx="3745895" cy="3745895"/>
          </a:xfrm>
          <a:custGeom>
            <a:avLst/>
            <a:gdLst/>
            <a:ahLst/>
            <a:cxnLst/>
            <a:rect r="r" b="b" t="t" l="l"/>
            <a:pathLst>
              <a:path h="3745895" w="3745895">
                <a:moveTo>
                  <a:pt x="0" y="0"/>
                </a:moveTo>
                <a:lnTo>
                  <a:pt x="3745894" y="0"/>
                </a:lnTo>
                <a:lnTo>
                  <a:pt x="3745894" y="3745895"/>
                </a:lnTo>
                <a:lnTo>
                  <a:pt x="0" y="37458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992022" y="1793736"/>
            <a:ext cx="8303955" cy="1163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39"/>
              </a:lnSpc>
            </a:pPr>
            <a:r>
              <a:rPr lang="en-US" sz="8499">
                <a:solidFill>
                  <a:srgbClr val="2E2C2D"/>
                </a:solidFill>
                <a:latin typeface="Anton"/>
                <a:ea typeface="Anton"/>
                <a:cs typeface="Anton"/>
                <a:sym typeface="Anton"/>
              </a:rPr>
              <a:t>Modelo de Negocio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671235" y="6506342"/>
            <a:ext cx="6945530" cy="2067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84318" indent="-242159" lvl="1">
              <a:lnSpc>
                <a:spcPts val="3140"/>
              </a:lnSpc>
              <a:buFont typeface="Arial"/>
              <a:buChar char="•"/>
            </a:pPr>
            <a:r>
              <a:rPr lang="en-US" sz="2243" i="true" spc="69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Enfoque B2B (empresas c</a:t>
            </a:r>
            <a:r>
              <a:rPr lang="en-US" sz="2243" i="true" spc="69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on turnos rotativos)</a:t>
            </a:r>
          </a:p>
          <a:p>
            <a:pPr algn="just">
              <a:lnSpc>
                <a:spcPts val="1399"/>
              </a:lnSpc>
            </a:pPr>
          </a:p>
          <a:p>
            <a:pPr algn="just" marL="484318" indent="-242159" lvl="1">
              <a:lnSpc>
                <a:spcPts val="3140"/>
              </a:lnSpc>
              <a:buFont typeface="Arial"/>
              <a:buChar char="•"/>
            </a:pPr>
            <a:r>
              <a:rPr lang="en-US" sz="2243" i="true" spc="69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Software adaptab</a:t>
            </a:r>
            <a:r>
              <a:rPr lang="en-US" sz="2243" i="true" spc="69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le a cada organización</a:t>
            </a:r>
          </a:p>
          <a:p>
            <a:pPr algn="just">
              <a:lnSpc>
                <a:spcPts val="1399"/>
              </a:lnSpc>
            </a:pPr>
          </a:p>
          <a:p>
            <a:pPr algn="just" marL="484318" indent="-242159" lvl="1">
              <a:lnSpc>
                <a:spcPts val="3140"/>
              </a:lnSpc>
              <a:buFont typeface="Arial"/>
              <a:buChar char="•"/>
            </a:pPr>
            <a:r>
              <a:rPr lang="en-US" sz="2243" i="true" spc="69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Mejora el control de asistencia</a:t>
            </a:r>
          </a:p>
          <a:p>
            <a:pPr algn="just">
              <a:lnSpc>
                <a:spcPts val="1399"/>
              </a:lnSpc>
            </a:pPr>
          </a:p>
          <a:p>
            <a:pPr algn="just" marL="484318" indent="-242159" lvl="1">
              <a:lnSpc>
                <a:spcPts val="3140"/>
              </a:lnSpc>
              <a:spcBef>
                <a:spcPct val="0"/>
              </a:spcBef>
              <a:buFont typeface="Arial"/>
              <a:buChar char="•"/>
            </a:pPr>
            <a:r>
              <a:rPr lang="en-US" sz="2243" i="true" spc="69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Apoy</a:t>
            </a:r>
            <a:r>
              <a:rPr lang="en-US" sz="2243" i="true" spc="69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a la gestión de recursos humanos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9005" y="1028700"/>
            <a:ext cx="17229526" cy="8525109"/>
            <a:chOff x="0" y="0"/>
            <a:chExt cx="4537818" cy="22452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7818" cy="2245296"/>
            </a:xfrm>
            <a:custGeom>
              <a:avLst/>
              <a:gdLst/>
              <a:ahLst/>
              <a:cxnLst/>
              <a:rect r="r" b="b" t="t" l="l"/>
              <a:pathLst>
                <a:path h="2245296" w="4537818">
                  <a:moveTo>
                    <a:pt x="0" y="0"/>
                  </a:moveTo>
                  <a:lnTo>
                    <a:pt x="4537818" y="0"/>
                  </a:lnTo>
                  <a:lnTo>
                    <a:pt x="4537818" y="2245296"/>
                  </a:lnTo>
                  <a:lnTo>
                    <a:pt x="0" y="2245296"/>
                  </a:lnTo>
                  <a:close/>
                </a:path>
              </a:pathLst>
            </a:custGeom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4537818" cy="21976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662754" y="-1649917"/>
            <a:ext cx="3086100" cy="2889115"/>
            <a:chOff x="0" y="0"/>
            <a:chExt cx="596900" cy="558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96900" cy="558800"/>
            </a:xfrm>
            <a:custGeom>
              <a:avLst/>
              <a:gdLst/>
              <a:ahLst/>
              <a:cxnLst/>
              <a:rect r="r" b="b" t="t" l="l"/>
              <a:pathLst>
                <a:path h="558800" w="5969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D1CCC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180975"/>
              <a:ext cx="393700" cy="245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895199" y="9049953"/>
            <a:ext cx="3086100" cy="2889115"/>
            <a:chOff x="0" y="0"/>
            <a:chExt cx="596900" cy="558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96900" cy="558800"/>
            </a:xfrm>
            <a:custGeom>
              <a:avLst/>
              <a:gdLst/>
              <a:ahLst/>
              <a:cxnLst/>
              <a:rect r="r" b="b" t="t" l="l"/>
              <a:pathLst>
                <a:path h="558800" w="5969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D1CCC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180975"/>
              <a:ext cx="393700" cy="245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7517296" y="3336515"/>
            <a:ext cx="2972943" cy="4114800"/>
          </a:xfrm>
          <a:custGeom>
            <a:avLst/>
            <a:gdLst/>
            <a:ahLst/>
            <a:cxnLst/>
            <a:rect r="r" b="b" t="t" l="l"/>
            <a:pathLst>
              <a:path h="4114800" w="2972943">
                <a:moveTo>
                  <a:pt x="0" y="0"/>
                </a:moveTo>
                <a:lnTo>
                  <a:pt x="2972943" y="0"/>
                </a:lnTo>
                <a:lnTo>
                  <a:pt x="297294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923565" y="1813769"/>
            <a:ext cx="6160405" cy="1163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39"/>
              </a:lnSpc>
            </a:pPr>
            <a:r>
              <a:rPr lang="en-US" sz="8499">
                <a:solidFill>
                  <a:srgbClr val="2E2C2D"/>
                </a:solidFill>
                <a:latin typeface="Anton"/>
                <a:ea typeface="Anton"/>
                <a:cs typeface="Anton"/>
                <a:sym typeface="Anton"/>
              </a:rPr>
              <a:t>Demostración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3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96774" y="880946"/>
            <a:ext cx="17229526" cy="8525109"/>
            <a:chOff x="0" y="0"/>
            <a:chExt cx="4537818" cy="22452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7818" cy="2245296"/>
            </a:xfrm>
            <a:custGeom>
              <a:avLst/>
              <a:gdLst/>
              <a:ahLst/>
              <a:cxnLst/>
              <a:rect r="r" b="b" t="t" l="l"/>
              <a:pathLst>
                <a:path h="2245296" w="4537818">
                  <a:moveTo>
                    <a:pt x="0" y="0"/>
                  </a:moveTo>
                  <a:lnTo>
                    <a:pt x="4537818" y="0"/>
                  </a:lnTo>
                  <a:lnTo>
                    <a:pt x="4537818" y="2245296"/>
                  </a:lnTo>
                  <a:lnTo>
                    <a:pt x="0" y="2245296"/>
                  </a:lnTo>
                  <a:close/>
                </a:path>
              </a:pathLst>
            </a:custGeom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537818" cy="23024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626109" indent="-313054" lvl="1">
                <a:lnSpc>
                  <a:spcPts val="4059"/>
                </a:lnSpc>
                <a:spcBef>
                  <a:spcPct val="0"/>
                </a:spcBef>
                <a:buFont typeface="Arial"/>
                <a:buChar char="•"/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662754" y="-1649917"/>
            <a:ext cx="3086100" cy="2889115"/>
            <a:chOff x="0" y="0"/>
            <a:chExt cx="596900" cy="558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96900" cy="558800"/>
            </a:xfrm>
            <a:custGeom>
              <a:avLst/>
              <a:gdLst/>
              <a:ahLst/>
              <a:cxnLst/>
              <a:rect r="r" b="b" t="t" l="l"/>
              <a:pathLst>
                <a:path h="558800" w="5969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D1CCC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180975"/>
              <a:ext cx="393700" cy="245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5653117" y="1793736"/>
            <a:ext cx="6981765" cy="1163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39"/>
              </a:lnSpc>
            </a:pPr>
            <a:r>
              <a:rPr lang="en-US" sz="8499">
                <a:solidFill>
                  <a:srgbClr val="2E2C2D"/>
                </a:solidFill>
                <a:latin typeface="Anton"/>
                <a:ea typeface="Anton"/>
                <a:cs typeface="Anton"/>
                <a:sym typeface="Anton"/>
              </a:rPr>
              <a:t>Mejoras futuras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895199" y="9049953"/>
            <a:ext cx="3086100" cy="2889115"/>
            <a:chOff x="0" y="0"/>
            <a:chExt cx="596900" cy="558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96900" cy="558800"/>
            </a:xfrm>
            <a:custGeom>
              <a:avLst/>
              <a:gdLst/>
              <a:ahLst/>
              <a:cxnLst/>
              <a:rect r="r" b="b" t="t" l="l"/>
              <a:pathLst>
                <a:path h="558800" w="5969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D1CCC8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180975"/>
              <a:ext cx="393700" cy="245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5778608" y="4594931"/>
            <a:ext cx="6730784" cy="2383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09" indent="-313054" lvl="1">
              <a:lnSpc>
                <a:spcPts val="4059"/>
              </a:lnSpc>
              <a:buFont typeface="Arial"/>
              <a:buChar char="•"/>
            </a:pPr>
            <a:r>
              <a:rPr lang="en-US" sz="2899" i="true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Gestión de turnos por RRHH</a:t>
            </a:r>
          </a:p>
          <a:p>
            <a:pPr algn="l">
              <a:lnSpc>
                <a:spcPts val="1399"/>
              </a:lnSpc>
            </a:pPr>
          </a:p>
          <a:p>
            <a:pPr algn="l" marL="626109" indent="-313054" lvl="1">
              <a:lnSpc>
                <a:spcPts val="4059"/>
              </a:lnSpc>
              <a:buFont typeface="Arial"/>
              <a:buChar char="•"/>
            </a:pPr>
            <a:r>
              <a:rPr lang="en-US" sz="2899" i="true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Optimizac</a:t>
            </a:r>
            <a:r>
              <a:rPr lang="en-US" sz="2899" i="true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ión de datos</a:t>
            </a:r>
          </a:p>
          <a:p>
            <a:pPr algn="l">
              <a:lnSpc>
                <a:spcPts val="1399"/>
              </a:lnSpc>
            </a:pPr>
          </a:p>
          <a:p>
            <a:pPr algn="l" marL="626109" indent="-313054" lvl="1">
              <a:lnSpc>
                <a:spcPts val="4059"/>
              </a:lnSpc>
              <a:buFont typeface="Arial"/>
              <a:buChar char="•"/>
            </a:pPr>
            <a:r>
              <a:rPr lang="en-US" sz="2899" i="true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A</a:t>
            </a:r>
            <a:r>
              <a:rPr lang="en-US" sz="2899" i="true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utenticación co</a:t>
            </a:r>
            <a:r>
              <a:rPr lang="en-US" sz="2899" i="true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n</a:t>
            </a:r>
            <a:r>
              <a:rPr lang="en-US" sz="2899" i="true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 </a:t>
            </a:r>
            <a:r>
              <a:rPr lang="en-US" sz="2899" i="true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número telefón</a:t>
            </a:r>
            <a:r>
              <a:rPr lang="en-US" sz="2899" i="true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i</a:t>
            </a:r>
            <a:r>
              <a:rPr lang="en-US" sz="2899" i="true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co</a:t>
            </a:r>
          </a:p>
          <a:p>
            <a:pPr algn="l" marL="626109" indent="-313054" lvl="1">
              <a:lnSpc>
                <a:spcPts val="4059"/>
              </a:lnSpc>
              <a:buFont typeface="Arial"/>
              <a:buChar char="•"/>
            </a:pPr>
            <a:r>
              <a:rPr lang="en-US" sz="2899" i="true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Menú de Accesibilidad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9005" y="1028700"/>
            <a:ext cx="17229526" cy="8525109"/>
            <a:chOff x="0" y="0"/>
            <a:chExt cx="4537818" cy="22452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7818" cy="2245296"/>
            </a:xfrm>
            <a:custGeom>
              <a:avLst/>
              <a:gdLst/>
              <a:ahLst/>
              <a:cxnLst/>
              <a:rect r="r" b="b" t="t" l="l"/>
              <a:pathLst>
                <a:path h="2245296" w="4537818">
                  <a:moveTo>
                    <a:pt x="0" y="0"/>
                  </a:moveTo>
                  <a:lnTo>
                    <a:pt x="4537818" y="0"/>
                  </a:lnTo>
                  <a:lnTo>
                    <a:pt x="4537818" y="2245296"/>
                  </a:lnTo>
                  <a:lnTo>
                    <a:pt x="0" y="2245296"/>
                  </a:lnTo>
                  <a:close/>
                </a:path>
              </a:pathLst>
            </a:custGeom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4537818" cy="21976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662754" y="-1649917"/>
            <a:ext cx="3086100" cy="2889115"/>
            <a:chOff x="0" y="0"/>
            <a:chExt cx="596900" cy="558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96900" cy="558800"/>
            </a:xfrm>
            <a:custGeom>
              <a:avLst/>
              <a:gdLst/>
              <a:ahLst/>
              <a:cxnLst/>
              <a:rect r="r" b="b" t="t" l="l"/>
              <a:pathLst>
                <a:path h="558800" w="5969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D1CCC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180975"/>
              <a:ext cx="393700" cy="245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895199" y="9049953"/>
            <a:ext cx="3086100" cy="2889115"/>
            <a:chOff x="0" y="0"/>
            <a:chExt cx="596900" cy="558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96900" cy="558800"/>
            </a:xfrm>
            <a:custGeom>
              <a:avLst/>
              <a:gdLst/>
              <a:ahLst/>
              <a:cxnLst/>
              <a:rect r="r" b="b" t="t" l="l"/>
              <a:pathLst>
                <a:path h="558800" w="5969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D1CCC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180975"/>
              <a:ext cx="393700" cy="245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8042606" y="3612053"/>
            <a:ext cx="1922324" cy="1917518"/>
          </a:xfrm>
          <a:custGeom>
            <a:avLst/>
            <a:gdLst/>
            <a:ahLst/>
            <a:cxnLst/>
            <a:rect r="r" b="b" t="t" l="l"/>
            <a:pathLst>
              <a:path h="1917518" w="1922324">
                <a:moveTo>
                  <a:pt x="0" y="0"/>
                </a:moveTo>
                <a:lnTo>
                  <a:pt x="1922324" y="0"/>
                </a:lnTo>
                <a:lnTo>
                  <a:pt x="1922324" y="1917519"/>
                </a:lnTo>
                <a:lnTo>
                  <a:pt x="0" y="19175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400823" y="1706882"/>
            <a:ext cx="5486354" cy="1245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01"/>
              </a:lnSpc>
            </a:pPr>
            <a:r>
              <a:rPr lang="en-US" sz="9039">
                <a:solidFill>
                  <a:srgbClr val="2E2C2D"/>
                </a:solidFill>
                <a:latin typeface="Anton"/>
                <a:ea typeface="Anton"/>
                <a:cs typeface="Anton"/>
                <a:sym typeface="Anton"/>
              </a:rPr>
              <a:t>CONCLUSIÓN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265510" y="6439819"/>
            <a:ext cx="5756980" cy="2288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47651" indent="-273826" lvl="1">
              <a:lnSpc>
                <a:spcPts val="3551"/>
              </a:lnSpc>
              <a:buFont typeface="Arial"/>
              <a:buChar char="•"/>
            </a:pPr>
            <a:r>
              <a:rPr lang="en-US" sz="2536" i="true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Soluci</a:t>
            </a:r>
            <a:r>
              <a:rPr lang="en-US" sz="2536" i="true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ona problema de asistencia</a:t>
            </a:r>
          </a:p>
          <a:p>
            <a:pPr algn="just">
              <a:lnSpc>
                <a:spcPts val="1399"/>
              </a:lnSpc>
            </a:pPr>
          </a:p>
          <a:p>
            <a:pPr algn="just" marL="547651" indent="-273826" lvl="1">
              <a:lnSpc>
                <a:spcPts val="3551"/>
              </a:lnSpc>
              <a:buFont typeface="Arial"/>
              <a:buChar char="•"/>
            </a:pPr>
            <a:r>
              <a:rPr lang="en-US" sz="2536" i="true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M</a:t>
            </a:r>
            <a:r>
              <a:rPr lang="en-US" sz="2536" i="true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ejora puntualidad</a:t>
            </a:r>
          </a:p>
          <a:p>
            <a:pPr algn="just">
              <a:lnSpc>
                <a:spcPts val="1399"/>
              </a:lnSpc>
            </a:pPr>
          </a:p>
          <a:p>
            <a:pPr algn="just" marL="547651" indent="-273826" lvl="1">
              <a:lnSpc>
                <a:spcPts val="3551"/>
              </a:lnSpc>
              <a:buFont typeface="Arial"/>
              <a:buChar char="•"/>
            </a:pPr>
            <a:r>
              <a:rPr lang="en-US" sz="2536" i="true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Optimiza control</a:t>
            </a:r>
          </a:p>
          <a:p>
            <a:pPr algn="just">
              <a:lnSpc>
                <a:spcPts val="1399"/>
              </a:lnSpc>
            </a:pPr>
          </a:p>
          <a:p>
            <a:pPr algn="just" marL="547651" indent="-273826" lvl="1">
              <a:lnSpc>
                <a:spcPts val="3551"/>
              </a:lnSpc>
              <a:buFont typeface="Arial"/>
              <a:buChar char="•"/>
            </a:pPr>
            <a:r>
              <a:rPr lang="en-US" sz="2536" i="true">
                <a:solidFill>
                  <a:srgbClr val="2E2C2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Apoya gestión de RRHH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9005" y="1028700"/>
            <a:ext cx="17229526" cy="8525109"/>
            <a:chOff x="0" y="0"/>
            <a:chExt cx="4537818" cy="22452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7818" cy="2245296"/>
            </a:xfrm>
            <a:custGeom>
              <a:avLst/>
              <a:gdLst/>
              <a:ahLst/>
              <a:cxnLst/>
              <a:rect r="r" b="b" t="t" l="l"/>
              <a:pathLst>
                <a:path h="2245296" w="4537818">
                  <a:moveTo>
                    <a:pt x="0" y="0"/>
                  </a:moveTo>
                  <a:lnTo>
                    <a:pt x="4537818" y="0"/>
                  </a:lnTo>
                  <a:lnTo>
                    <a:pt x="4537818" y="2245296"/>
                  </a:lnTo>
                  <a:lnTo>
                    <a:pt x="0" y="2245296"/>
                  </a:lnTo>
                  <a:close/>
                </a:path>
              </a:pathLst>
            </a:custGeom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4537818" cy="21976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  <a:p>
              <a:pPr algn="ctr">
                <a:lnSpc>
                  <a:spcPts val="2501"/>
                </a:lnSpc>
              </a:pPr>
            </a:p>
            <a:p>
              <a:pPr algn="ctr">
                <a:lnSpc>
                  <a:spcPts val="250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662754" y="-1649917"/>
            <a:ext cx="3086100" cy="2889115"/>
            <a:chOff x="0" y="0"/>
            <a:chExt cx="596900" cy="558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96900" cy="558800"/>
            </a:xfrm>
            <a:custGeom>
              <a:avLst/>
              <a:gdLst/>
              <a:ahLst/>
              <a:cxnLst/>
              <a:rect r="r" b="b" t="t" l="l"/>
              <a:pathLst>
                <a:path h="558800" w="5969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D1CCC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180975"/>
              <a:ext cx="393700" cy="245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7315871" y="4771509"/>
            <a:ext cx="3375793" cy="1163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39"/>
              </a:lnSpc>
            </a:pPr>
            <a:r>
              <a:rPr lang="en-US" sz="8499">
                <a:solidFill>
                  <a:srgbClr val="2E2C2D"/>
                </a:solidFill>
                <a:latin typeface="Anton"/>
                <a:ea typeface="Anton"/>
                <a:cs typeface="Anton"/>
                <a:sym typeface="Anton"/>
              </a:rPr>
              <a:t>GRACIAS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895199" y="9049953"/>
            <a:ext cx="3086100" cy="2889115"/>
            <a:chOff x="0" y="0"/>
            <a:chExt cx="596900" cy="558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96900" cy="558800"/>
            </a:xfrm>
            <a:custGeom>
              <a:avLst/>
              <a:gdLst/>
              <a:ahLst/>
              <a:cxnLst/>
              <a:rect r="r" b="b" t="t" l="l"/>
              <a:pathLst>
                <a:path h="558800" w="5969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D1CCC8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180975"/>
              <a:ext cx="393700" cy="245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1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7779930" y="2423358"/>
            <a:ext cx="2447676" cy="2447676"/>
          </a:xfrm>
          <a:custGeom>
            <a:avLst/>
            <a:gdLst/>
            <a:ahLst/>
            <a:cxnLst/>
            <a:rect r="r" b="b" t="t" l="l"/>
            <a:pathLst>
              <a:path h="2447676" w="2447676">
                <a:moveTo>
                  <a:pt x="0" y="0"/>
                </a:moveTo>
                <a:lnTo>
                  <a:pt x="2447675" y="0"/>
                </a:lnTo>
                <a:lnTo>
                  <a:pt x="2447675" y="2447675"/>
                </a:lnTo>
                <a:lnTo>
                  <a:pt x="0" y="2447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DAHHWOuwfGM</dc:identifier>
  <dcterms:modified xsi:type="dcterms:W3CDTF">2011-08-01T06:04:30Z</dcterms:modified>
  <cp:revision>1</cp:revision>
  <dc:title>Presentación Proyecto</dc:title>
</cp:coreProperties>
</file>